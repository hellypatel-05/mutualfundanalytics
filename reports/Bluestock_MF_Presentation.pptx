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BLUESTOCK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5D6A7"/>
                </a:solidFill>
                <a:latin typeface="Calibri"/>
              </a:rPr>
              <a:t>Mutual Fund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0195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8E6C9"/>
                </a:solidFill>
                <a:latin typeface="Calibri"/>
              </a:rPr>
              <a:t>Capstone Project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2423160"/>
            <a:ext cx="4023360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7860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F5E9"/>
                </a:solidFill>
                <a:latin typeface="Calibri"/>
              </a:rPr>
              <a:t>40 Fund Schemes  ·  Jan 2022 – Dec 2025  ·  ₹81 Lakh Crore Industry AUM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3580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5D6A7"/>
                </a:solidFill>
                <a:latin typeface="Calibri"/>
              </a:rPr>
              <a:t>Bluestock Fintech Internship  ·  June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22191"/>
            <a:ext cx="1965960" cy="9326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₹81L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1596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E9"/>
                </a:solidFill>
                <a:latin typeface="Calibri"/>
              </a:rPr>
              <a:t>Total AUM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3472" y="3822191"/>
            <a:ext cx="1965960" cy="93268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384048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₹31K 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431596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E9"/>
                </a:solidFill>
                <a:latin typeface="Calibri"/>
              </a:rPr>
              <a:t>Peak SIP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9744" y="3822191"/>
            <a:ext cx="1965960" cy="9326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9744" y="384048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26.12 Cr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9744" y="431596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E9"/>
                </a:solidFill>
                <a:latin typeface="Calibri"/>
              </a:rPr>
              <a:t>Folios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86016" y="3822191"/>
            <a:ext cx="1965960" cy="93268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384048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17% YoY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431596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8F5E9"/>
                </a:solidFill>
                <a:latin typeface="Calibri"/>
              </a:rPr>
              <a:t>SIP Growth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914400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Problem &amp;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40080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6C9"/>
                </a:solidFill>
                <a:latin typeface="Calibri"/>
              </a:rPr>
              <a:t>Why mutual fund analytics? What does this project solve?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" y="48463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  <a:latin typeface="Calibri"/>
              </a:rPr>
              <a:t>Bluestock MF Analytics  ·  Capstone Project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8595360" cy="1024128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704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📊 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1704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7474F"/>
                </a:solidFill>
                <a:latin typeface="Calibri"/>
              </a:rPr>
              <a:t>Retail investors lack quantitative tools to compare 1,900+ MF schemes on risk-adjusted metrics beyond simple returns.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86000"/>
            <a:ext cx="8595360" cy="1024128"/>
          </a:xfrm>
          <a:prstGeom prst="rect">
            <a:avLst/>
          </a:prstGeom>
          <a:solidFill>
            <a:srgbClr val="FFF3E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3134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5100"/>
                </a:solidFill>
                <a:latin typeface="Calibri"/>
              </a:rPr>
              <a:t>🎯  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3134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7474F"/>
                </a:solidFill>
                <a:latin typeface="Calibri"/>
              </a:rPr>
              <a:t>Build an end-to-end platform: data ingestion → ETL → performance analytics → interactive Power BI dashboard → CLI fund recommender.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429000"/>
            <a:ext cx="8595360" cy="1024128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34564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📈  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4564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7474F"/>
                </a:solidFill>
                <a:latin typeface="Calibri"/>
              </a:rPr>
              <a:t>40 SEBI-regulated schemes (Large/Mid/Small Cap, Debt, Hybrid), 2022–2025, covering NAV history, transactions, AUM, SIP flows.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914400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40080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6C9"/>
                </a:solidFill>
                <a:latin typeface="Calibri"/>
              </a:rPr>
              <a:t>10 structured datasets + live AMFI API (mfapi.in)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" y="48463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  <a:latin typeface="Calibri"/>
              </a:rPr>
              <a:t>Bluestock MF Analytics  ·  Capstone Project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14300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• Fund Master (40 funds)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49047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46E7A"/>
                </a:solidFill>
                <a:latin typeface="Calibri"/>
              </a:rPr>
              <a:t>AMFI codes, risk grade, expense ratio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14300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5100"/>
                </a:solidFill>
                <a:latin typeface="Calibri"/>
              </a:rPr>
              <a:t>• NAV History (~60K rows)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49047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46E7A"/>
                </a:solidFill>
                <a:latin typeface="Calibri"/>
              </a:rPr>
              <a:t>Daily NAV, 2022–2025, ffilled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947672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• AUM by AMC (~300 rows)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295144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46E7A"/>
                </a:solidFill>
                <a:latin typeface="Calibri"/>
              </a:rPr>
              <a:t>Quarterly AUM per fund 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947672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5100"/>
                </a:solidFill>
                <a:latin typeface="Calibri"/>
              </a:rPr>
              <a:t>• Monthly SIP Inflows (48)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95144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46E7A"/>
                </a:solidFill>
                <a:latin typeface="Calibri"/>
              </a:rPr>
              <a:t>Inflows, accounts, YoY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752344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• Investor Transactions (~50K)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099815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46E7A"/>
                </a:solidFill>
                <a:latin typeface="Calibri"/>
              </a:rPr>
              <a:t>SIP/Lumpsum/Redemption + demographics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752344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5100"/>
                </a:solidFill>
                <a:latin typeface="Calibri"/>
              </a:rPr>
              <a:t>• Benchmark Indices (~3.8K rows)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099815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46E7A"/>
                </a:solidFill>
                <a:latin typeface="Calibri"/>
              </a:rPr>
              <a:t>Daily NIFTY50, NIFTY100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3557016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• Live NAV — mfapi.in REST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3904487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46E7A"/>
                </a:solidFill>
                <a:latin typeface="Calibri"/>
              </a:rPr>
              <a:t>6 key funds fetched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914400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ETL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40080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6C9"/>
                </a:solidFill>
                <a:latin typeface="Calibri"/>
              </a:rPr>
              <a:t>Four-stage pipeline — run_pipeline.py orchestrates all stages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" y="48463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  <a:latin typeface="Calibri"/>
              </a:rPr>
              <a:t>Bluestock MF Analytics  ·  Capstone Project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1965960" cy="228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52728"/>
            <a:ext cx="1965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
Fetch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29968"/>
            <a:ext cx="19659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E8F5E9"/>
                </a:solidFill>
                <a:latin typeface="Calibri"/>
              </a:rPr>
              <a:t>live_nav_fetch.py
mfapi.in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3317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1234440"/>
            <a:ext cx="1965960" cy="228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252728"/>
            <a:ext cx="1965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
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029968"/>
            <a:ext cx="19659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Calibri"/>
              </a:rPr>
              <a:t>data_ingestion.py
Validate &amp; ffill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3317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9744" y="1234440"/>
            <a:ext cx="1965960" cy="228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9744" y="1252728"/>
            <a:ext cx="1965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
Analyse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9744" y="2029968"/>
            <a:ext cx="19659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E8F5E9"/>
                </a:solidFill>
                <a:latin typeface="Calibri"/>
              </a:rPr>
              <a:t>performance_analytics.py
advanced_analytics.py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9983" y="23317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86016" y="1234440"/>
            <a:ext cx="1965960" cy="228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6016" y="1252728"/>
            <a:ext cx="1965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
Visualise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2029968"/>
            <a:ext cx="19659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3E0"/>
                </a:solidFill>
                <a:latin typeface="Calibri"/>
              </a:rPr>
              <a:t>run_eda.py
Power BI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767328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46E7A"/>
                </a:solidFill>
                <a:latin typeface="Calibri"/>
              </a:rPr>
              <a:t>Database: SQLite star schema  ·  dim_fund, dim_date, fact_nav, fact_transactions, fact_performance, fact_aum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914400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EDA Highlights — Industry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40080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6C9"/>
                </a:solidFill>
                <a:latin typeface="Calibri"/>
              </a:rPr>
              <a:t>SIP momentum &amp; AUM dominance (2022–2025)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" y="48463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  <a:latin typeface="Calibri"/>
              </a:rPr>
              <a:t>Bluestock MF Analytics  ·  Capstone Project 2026</a:t>
            </a:r>
          </a:p>
        </p:txBody>
      </p:sp>
      <p:pic>
        <p:nvPicPr>
          <p:cNvPr id="8" name="Picture 7" descr="03_sip_inflow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4846320" cy="1661595"/>
          </a:xfrm>
          <a:prstGeom prst="rect">
            <a:avLst/>
          </a:prstGeom>
        </p:spPr>
      </p:pic>
      <p:pic>
        <p:nvPicPr>
          <p:cNvPr id="9" name="Picture 8" descr="02_aum_grouped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024128"/>
            <a:ext cx="3886200" cy="16697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" y="3822191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E7D32"/>
                </a:solidFill>
                <a:latin typeface="Calibri"/>
              </a:rPr>
              <a:t>SIP: ₹11K Cr → ₹31K Cr ATH (Dec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822191"/>
            <a:ext cx="3886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65100"/>
                </a:solidFill>
                <a:latin typeface="Calibri"/>
              </a:rPr>
              <a:t>SBI leads AUM at ₹12.5 Lakh Crore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914400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EDA Highlights — Investors &amp; Folios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40080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6C9"/>
                </a:solidFill>
                <a:latin typeface="Calibri"/>
              </a:rPr>
              <a:t>Demographics, geography, folio 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" y="48463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  <a:latin typeface="Calibri"/>
              </a:rPr>
              <a:t>Bluestock MF Analytics  ·  Capstone Project 2026</a:t>
            </a:r>
          </a:p>
        </p:txBody>
      </p:sp>
      <p:pic>
        <p:nvPicPr>
          <p:cNvPr id="8" name="Picture 7" descr="07_folio_count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5029200" cy="1724297"/>
          </a:xfrm>
          <a:prstGeom prst="rect">
            <a:avLst/>
          </a:prstGeom>
        </p:spPr>
      </p:pic>
      <p:pic>
        <p:nvPicPr>
          <p:cNvPr id="9" name="Picture 8" descr="05a_age_group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024128"/>
            <a:ext cx="3566160" cy="25472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" y="3822191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E7D32"/>
                </a:solidFill>
                <a:latin typeface="Calibri"/>
              </a:rPr>
              <a:t>Folios: 12 Cr (2022) → 26.12 Cr ATH (2025)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822191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65100"/>
                </a:solidFill>
                <a:latin typeface="Calibri"/>
              </a:rPr>
              <a:t>26–45 age group dominates SIP investing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914400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Performance — Benchmark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40080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6C9"/>
                </a:solidFill>
                <a:latin typeface="Calibri"/>
              </a:rPr>
              <a:t>Top 5 funds vs NIFTY 50 &amp; NIFTY 100 · 3-year indexed to 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" y="48463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  <a:latin typeface="Calibri"/>
              </a:rPr>
              <a:t>Bluestock MF Analytics  ·  Capstone Project 2026</a:t>
            </a:r>
          </a:p>
        </p:txBody>
      </p:sp>
      <p:pic>
        <p:nvPicPr>
          <p:cNvPr id="8" name="Picture 7" descr="benchmar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87552"/>
            <a:ext cx="8778240" cy="69212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4434840"/>
            <a:ext cx="8778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46E7A"/>
                </a:solidFill>
                <a:latin typeface="Calibri"/>
              </a:rPr>
              <a:t>Top 5 funds: 15–18% CAGR vs NIFTY 100 ~13–14%  ·  Direct plans beat Regular by 50–100 bps annually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914400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Performance — Risk-Adjusted Returns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40080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6C9"/>
                </a:solidFill>
                <a:latin typeface="Calibri"/>
              </a:rPr>
              <a:t>Sharpe, Sortino, Alpha/Beta, VaR/CVaR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" y="48463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  <a:latin typeface="Calibri"/>
              </a:rPr>
              <a:t>Bluestock MF Analytics  ·  Capstone Project 2026</a:t>
            </a:r>
          </a:p>
        </p:txBody>
      </p:sp>
      <p:pic>
        <p:nvPicPr>
          <p:cNvPr id="8" name="Picture 7" descr="sharpe_sortino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5120640" cy="3130323"/>
          </a:xfrm>
          <a:prstGeom prst="rect">
            <a:avLst/>
          </a:prstGeom>
        </p:spPr>
      </p:pic>
      <p:pic>
        <p:nvPicPr>
          <p:cNvPr id="9" name="Picture 8" descr="var_cvar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024128"/>
            <a:ext cx="3611880" cy="21927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" y="38404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E7D32"/>
                </a:solidFill>
                <a:latin typeface="Calibri"/>
              </a:rPr>
              <a:t>Sharpe: 1.05–1.48 for top equity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840480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E65100"/>
                </a:solidFill>
                <a:latin typeface="Calibri"/>
              </a:rPr>
              <a:t>Daily VaR 95%: equity –0.9% to –1.4%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914400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Dashboard — Industry Overview &amp; Fund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40080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6C9"/>
                </a:solidFill>
                <a:latin typeface="Calibri"/>
              </a:rPr>
              <a:t>Power BI  ·  Page 1 and Page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" y="48463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  <a:latin typeface="Calibri"/>
              </a:rPr>
              <a:t>Bluestock MF Analytics  ·  Capstone Project 2026</a:t>
            </a:r>
          </a:p>
        </p:txBody>
      </p:sp>
      <p:pic>
        <p:nvPicPr>
          <p:cNvPr id="8" name="Picture 7" descr="12_top10_a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4343400" cy="844239"/>
          </a:xfrm>
          <a:prstGeom prst="rect">
            <a:avLst/>
          </a:prstGeom>
        </p:spPr>
      </p:pic>
      <p:pic>
        <p:nvPicPr>
          <p:cNvPr id="9" name="Picture 8" descr="14_sharpe_ratio_top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1024128"/>
            <a:ext cx="4297680" cy="22945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" y="3840480"/>
            <a:ext cx="4343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E7D32"/>
                </a:solidFill>
                <a:latin typeface="Calibri"/>
              </a:rPr>
              <a:t>Page 1: KPIs (AUM, SIP, Folios) + AUM trend by AMC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840480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E65100"/>
                </a:solidFill>
                <a:latin typeface="Calibri"/>
              </a:rPr>
              <a:t>Page 2: Risk-return scatter + Fund Scorecard table + drill-through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914400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Dashboard — Investor Analytics &amp; SIP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40080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6C9"/>
                </a:solidFill>
                <a:latin typeface="Calibri"/>
              </a:rPr>
              <a:t>Power BI  ·  Page 3 and Page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" y="48463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  <a:latin typeface="Calibri"/>
              </a:rPr>
              <a:t>Bluestock MF Analytics  ·  Capstone Project 2026</a:t>
            </a:r>
          </a:p>
        </p:txBody>
      </p:sp>
      <p:pic>
        <p:nvPicPr>
          <p:cNvPr id="8" name="Picture 7" descr="06a_sip_by_state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4343400" cy="3079480"/>
          </a:xfrm>
          <a:prstGeom prst="rect">
            <a:avLst/>
          </a:prstGeom>
        </p:spPr>
      </p:pic>
      <p:pic>
        <p:nvPicPr>
          <p:cNvPr id="9" name="Picture 8" descr="04_category_inflow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1024128"/>
            <a:ext cx="4297680" cy="177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" y="3840480"/>
            <a:ext cx="4343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E7D32"/>
                </a:solidFill>
                <a:latin typeface="Calibri"/>
              </a:rPr>
              <a:t>Page 3: SIP by state, age analysis, monthly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840480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E65100"/>
                </a:solidFill>
                <a:latin typeface="Calibri"/>
              </a:rPr>
              <a:t>Page 4: SIP vs Nifty 50 dual-axis + category heatmap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914400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40080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6C9"/>
                </a:solidFill>
                <a:latin typeface="Calibri"/>
              </a:rPr>
              <a:t>Eight evidence-backed insights from the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" y="48463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  <a:latin typeface="Calibri"/>
              </a:rPr>
              <a:t>Bluestock MF Analytics  ·  Capstone Project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143000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Calibri"/>
              </a:rPr>
              <a:t>• SIP ATH: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143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7474F"/>
                </a:solidFill>
                <a:latin typeface="Calibri"/>
              </a:rPr>
              <a:t>₹31,002 Cr in Dec 2025 — 17% YoY growth, 30% CAGR over 4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143000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5100"/>
                </a:solidFill>
                <a:latin typeface="Calibri"/>
              </a:rPr>
              <a:t>• AUM Leadership: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143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7474F"/>
                </a:solidFill>
                <a:latin typeface="Calibri"/>
              </a:rPr>
              <a:t>SBI MF ₹12.5L Cr; industry total ₹81L Cr — all AMCs grew 45–120%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947672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Calibri"/>
              </a:rPr>
              <a:t>• Quality Funds: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19476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7474F"/>
                </a:solidFill>
                <a:latin typeface="Calibri"/>
              </a:rPr>
              <a:t>Alpha&gt;1% AND Sharpe&gt;1 — high-conviction invest. universe (SQL Q10)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947672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5100"/>
                </a:solidFill>
                <a:latin typeface="Calibri"/>
              </a:rPr>
              <a:t>• Direct Plans: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9476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7474F"/>
                </a:solidFill>
                <a:latin typeface="Calibri"/>
              </a:rPr>
              <a:t>Direct beat Regular by 50–100 bps p.a. due to lower 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752344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Calibri"/>
              </a:rPr>
              <a:t>• 2023/2024 Cycles: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75234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7474F"/>
                </a:solidFill>
                <a:latin typeface="Calibri"/>
              </a:rPr>
              <a:t>2023 bull: Sharpe &gt;1.5; 2024 correction: Sharpe compressed to 0.3–0.7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752344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5100"/>
                </a:solidFill>
                <a:latin typeface="Calibri"/>
              </a:rPr>
              <a:t>• T30 Dominance: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75234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7474F"/>
                </a:solidFill>
                <a:latin typeface="Calibri"/>
              </a:rPr>
              <a:t>Maharashtra + Delhi drive &gt;40% of SIP value; B30 growing faster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355701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Calibri"/>
              </a:rPr>
              <a:t>• SIP Continuity: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55701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7474F"/>
                </a:solidFill>
                <a:latin typeface="Calibri"/>
              </a:rPr>
              <a:t>82% investors maintain regular cadence; 18% at-risk (gap&gt;35 days)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355701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5100"/>
                </a:solidFill>
                <a:latin typeface="Calibri"/>
              </a:rPr>
              <a:t>• HHI / Sectors: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55701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7474F"/>
                </a:solidFill>
                <a:latin typeface="Calibri"/>
              </a:rPr>
              <a:t>Most equity funds diversified (HHI&lt;0.15); Fin. Services top sector ~28%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36192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5D6A7"/>
                </a:solidFill>
                <a:latin typeface="Calibri"/>
              </a:rPr>
              <a:t>Bluestock MF Analytics — Capstone Project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2121408"/>
            <a:ext cx="4023360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8E6C9"/>
                </a:solidFill>
                <a:latin typeface="Calibri"/>
              </a:rPr>
              <a:t>Source Code &amp;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github.com/&lt;your-username&gt;/MutualFundAnalytics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310128"/>
            <a:ext cx="2011680" cy="13898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332841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374903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Datasets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406908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8F5E9"/>
                </a:solidFill>
                <a:latin typeface="Calibri"/>
              </a:rPr>
              <a:t>10 CSVs + 6 analytics outputs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23744" y="3310128"/>
            <a:ext cx="2011680" cy="138988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3744" y="332841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3744" y="374903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Charts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406908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3E0"/>
                </a:solidFill>
                <a:latin typeface="Calibri"/>
              </a:rPr>
              <a:t>30 publication-quality PNGs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0016" y="3310128"/>
            <a:ext cx="2011680" cy="13898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16" y="332841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374903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Recommender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0016" y="406908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8F5E9"/>
                </a:solidFill>
                <a:latin typeface="Calibri"/>
              </a:rPr>
              <a:t>python recommender.py --risk Moderate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76288" y="3310128"/>
            <a:ext cx="2011680" cy="138988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76288" y="332841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374903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406908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3E0"/>
                </a:solidFill>
                <a:latin typeface="Calibri"/>
              </a:rPr>
              <a:t>4-page Power BI + 25 DAX measures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