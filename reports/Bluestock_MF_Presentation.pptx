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BLUESTOCK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EFB"/>
                </a:solidFill>
                <a:latin typeface="Calibri"/>
              </a:rPr>
              <a:t>Mutual Fund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CAF9"/>
                </a:solidFill>
                <a:latin typeface="Calibri"/>
              </a:rPr>
              <a:t>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3F2FD"/>
                </a:solidFill>
                <a:latin typeface="Calibri"/>
              </a:rPr>
              <a:t>40 Fund Schemes  ·  2022–2025  ·  ₹81 Lakh Crore Industry AUM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CAF9"/>
                </a:solidFill>
                <a:latin typeface="Calibri"/>
              </a:rPr>
              <a:t>Bluestock Fintech Internship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840480"/>
            <a:ext cx="1920240" cy="914400"/>
          </a:xfrm>
          <a:prstGeom prst="rect">
            <a:avLst/>
          </a:prstGeom>
          <a:solidFill>
            <a:srgbClr val="1976D2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₹81L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Calibri"/>
              </a:rPr>
              <a:t>Total AUM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3840480"/>
            <a:ext cx="1920240" cy="914400"/>
          </a:xfrm>
          <a:prstGeom prst="rect">
            <a:avLst/>
          </a:prstGeom>
          <a:solidFill>
            <a:srgbClr val="1976D2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₹31K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Calibri"/>
              </a:rPr>
              <a:t>Peak SIP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840480"/>
            <a:ext cx="1920240" cy="914400"/>
          </a:xfrm>
          <a:prstGeom prst="rect">
            <a:avLst/>
          </a:prstGeom>
          <a:solidFill>
            <a:srgbClr val="1976D2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26.12 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Calibri"/>
              </a:rPr>
              <a:t>Folios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3840480"/>
            <a:ext cx="1920240" cy="914400"/>
          </a:xfrm>
          <a:prstGeom prst="rect">
            <a:avLst/>
          </a:prstGeom>
          <a:solidFill>
            <a:srgbClr val="1976D2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858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17% YoY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270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BDEFB"/>
                </a:solidFill>
                <a:latin typeface="Calibri"/>
              </a:rPr>
              <a:t>SIP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Why mutual fund analytics? What does this project solve?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704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  <a:latin typeface="Calibri"/>
              </a:rPr>
              <a:t>📊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17043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Calibri"/>
              </a:rPr>
              <a:t>Retail investors lack quantitative tools to compare 1,900+ mutual funds on risk-adjusted metrics beyond simple returns.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3134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  <a:latin typeface="Calibri"/>
              </a:rPr>
              <a:t>🎯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1343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Calibri"/>
              </a:rPr>
              <a:t>Build an end-to-end analytics platform: data ingestion → ETL → performance analytics → interactive dashboard → fund recommender.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429000"/>
            <a:ext cx="8595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564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  <a:latin typeface="Calibri"/>
              </a:rPr>
              <a:t>📈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56432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74F"/>
                </a:solidFill>
                <a:latin typeface="Calibri"/>
              </a:rPr>
              <a:t>40 SEBI-regulated schemes (Large Cap, Mid/Small Cap, Debt, Hybrid), 2022–2025, covering NAV history, transactions, AUM, SIP 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10 structured datasets + live AMFI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Fund Master (40 funds)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AMFI codes, fund house, risk grade, expense ratio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NAV History (~60K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63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Daily NAV per scheme, 2022–2025, forward-filled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AUM by AMC (~300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Quarterly AUM per fund house (₹ Crore)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Monthly SIP Inflows (48 rows)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Industry SIP inflow, accounts, 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523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Investor Transactions (~50K)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072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SIP/Lumpsum/Redemption with demographics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523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Benchmark Indices (~3.8K)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72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Daily NIFTY50, NIFTY100 close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55701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Calibri"/>
              </a:rPr>
              <a:t>• Live NAV API (mfapi.in)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8770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6 key funds — real-time historical NAV fetch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ETL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Four-stage pipeline: Ingest → Clean → Analyse → Visualise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920240" cy="21945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
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3F2FD"/>
                </a:solidFill>
                <a:latin typeface="Calibri"/>
              </a:rPr>
              <a:t>live_nav_fetch.py
mfapi.in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011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65C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80160"/>
            <a:ext cx="1920240" cy="21945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29844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
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103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3F2FD"/>
                </a:solidFill>
                <a:latin typeface="Calibri"/>
              </a:rPr>
              <a:t>data_ingestion.py
Validate &amp; ffill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65C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280160"/>
            <a:ext cx="1920240" cy="21945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29844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
Analyse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103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3F2FD"/>
                </a:solidFill>
                <a:latin typeface="Calibri"/>
              </a:rPr>
              <a:t>performance_analytics.py
advanced_analytics.py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0116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565C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1280160"/>
            <a:ext cx="1920240" cy="219456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298448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
Visualise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1031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3F2FD"/>
                </a:solidFill>
                <a:latin typeface="Calibri"/>
              </a:rPr>
              <a:t>run_eda.py
Power BI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749039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Calibri"/>
              </a:rPr>
              <a:t>Database: SQLite star schema (dim_fund, dim_date, fact_nav, fact_transactions, fact_performance, fact_aum)  ·  run_pipeline.py orchestrates all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EDA Highlights — Industry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SIP momentum and AUM dominance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pic>
        <p:nvPicPr>
          <p:cNvPr id="7" name="Picture 6" descr="03_sip_inflow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754880" cy="1630245"/>
          </a:xfrm>
          <a:prstGeom prst="rect">
            <a:avLst/>
          </a:prstGeom>
        </p:spPr>
      </p:pic>
      <p:pic>
        <p:nvPicPr>
          <p:cNvPr id="8" name="Picture 7" descr="02_aum_grouped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931920" cy="16893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Calibri"/>
              </a:rPr>
              <a:t>Monthly SIP: ₹11K Cr → ₹31K Cr 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Calibri"/>
              </a:rPr>
              <a:t>SBI leads AUM at ₹12.5 Lakh Crore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EDA Highlights — Investor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Demographics, geography, folio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pic>
        <p:nvPicPr>
          <p:cNvPr id="7" name="Picture 6" descr="07_folio_coun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029200" cy="1724297"/>
          </a:xfrm>
          <a:prstGeom prst="rect">
            <a:avLst/>
          </a:prstGeom>
        </p:spPr>
      </p:pic>
      <p:pic>
        <p:nvPicPr>
          <p:cNvPr id="8" name="Picture 7" descr="05a_age_group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097280"/>
            <a:ext cx="3474720" cy="24819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Calibri"/>
              </a:rPr>
              <a:t>Folios: 12 Cr (2022) → 26.12 Cr ATH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840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46E7A"/>
                </a:solidFill>
                <a:latin typeface="Calibri"/>
              </a:rPr>
              <a:t>26–45 age group dominates SIP investing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Performance Metrics — Benchmark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Top 5 funds vs NIFTY 50 &amp; NIFTY 100 (3-year, indexed to 100)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pic>
        <p:nvPicPr>
          <p:cNvPr id="7" name="Picture 6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8778240" cy="6921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44348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46E7A"/>
                </a:solidFill>
                <a:latin typeface="Calibri"/>
              </a:rPr>
              <a:t>Top 5 funds delivered 15–18% 3yr CAGR vs NIFTY 100's ~13–14%  ·  Direct plans outperform by 50–100 bps annually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Performance Metrics — Risk-Adjusted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Sharpe, Sortino, Alpha/Beta, VaR — all 40 funds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pic>
        <p:nvPicPr>
          <p:cNvPr id="7" name="Picture 6" descr="sharpe_sortino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5120640" cy="3130323"/>
          </a:xfrm>
          <a:prstGeom prst="rect">
            <a:avLst/>
          </a:prstGeom>
        </p:spPr>
      </p:pic>
      <p:pic>
        <p:nvPicPr>
          <p:cNvPr id="8" name="Picture 7" descr="var_cva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3566160" cy="21649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3840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46E7A"/>
                </a:solidFill>
                <a:latin typeface="Calibri"/>
              </a:rPr>
              <a:t>Top equity Sharpe: 1.05–1.48 (above 1.0 threshold)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46E7A"/>
                </a:solidFill>
                <a:latin typeface="Calibri"/>
              </a:rPr>
              <a:t>Daily VaR 95%: equity funds –0.9% to –1.4%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Dashboard — Industry Overview &amp; Fund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Power BI · Page 1 and Page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pic>
        <p:nvPicPr>
          <p:cNvPr id="7" name="Picture 6" descr="12_top10_a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297680" cy="835352"/>
          </a:xfrm>
          <a:prstGeom prst="rect">
            <a:avLst/>
          </a:prstGeom>
        </p:spPr>
      </p:pic>
      <p:pic>
        <p:nvPicPr>
          <p:cNvPr id="8" name="Picture 7" descr="14_sharpe_ratio_to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4297680" cy="2294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438912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46E7A"/>
                </a:solidFill>
                <a:latin typeface="Calibri"/>
              </a:rPr>
              <a:t>Dashboard Page 1: KPIs (AUM, SIP, Folios) + AUM trend  ·  Page 2: Scatter risk-return + Fund Scorecard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Dashboard — Investor Analytics &amp; SIP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Power BI · Page 3 and Page 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pic>
        <p:nvPicPr>
          <p:cNvPr id="7" name="Picture 6" descr="06a_sip_by_sta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297680" cy="3047064"/>
          </a:xfrm>
          <a:prstGeom prst="rect">
            <a:avLst/>
          </a:prstGeom>
        </p:spPr>
      </p:pic>
      <p:pic>
        <p:nvPicPr>
          <p:cNvPr id="8" name="Picture 7" descr="04_category_inflow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4297680" cy="1770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" y="438912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46E7A"/>
                </a:solidFill>
                <a:latin typeface="Calibri"/>
              </a:rPr>
              <a:t>Dashboard Page 3: SIP by state, age analysis, monthly volume  ·  Page 4: SIP vs Nifty 50, category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  <a:latin typeface="Calibri"/>
              </a:rPr>
              <a:t>Eight evidence-backed insights from the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4828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46E7A"/>
                </a:solidFill>
                <a:latin typeface="Calibri"/>
              </a:rPr>
              <a:t>Bluestock MF Analytics · Capstone Project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SIP ATH: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Monthly SIP reached ₹31,002 Cr in Dec 2025 — 17% YoY growth, 30% CAGR over 4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143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AUM Leadership: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SBI MF leads at ₹12.5L Cr; industry total ₹81L Cr — all 10 AMCs grew 45–120%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47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Quality Funds: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476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Funds with Alpha&gt;1% AND Sharpe&gt;1 form a high-conviction invest. universe (SQL Q10)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476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Direct Plans: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4767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Direct plans outperform regular by 50–100 bps p.a. due to lower 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52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2023/2024 Cycles: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7523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2023 bull run: Sharpe peaked &gt;1.5; 2024 correction: Sharpe compressed to 0.3–0.7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752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T30 Dominance: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52344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Maharashtra and Delhi drive &gt;40% of SIP value; B30 cities growing at faster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557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SIP Continuity: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557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82% investors maintain regular SIP cadence; 18% at-risk (gap &gt;35 days)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57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• HHI Concentration: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57016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74F"/>
                </a:solidFill>
                <a:latin typeface="Calibri"/>
              </a:rPr>
              <a:t>Most equity funds well-diversified (HHI&lt;0.15); Financial Services = top sector ~28%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  <a:latin typeface="Calibri"/>
              </a:rPr>
              <a:t>Bluestock MF Analytics — Capstone Project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CAF9"/>
                </a:solidFill>
                <a:latin typeface="Calibri"/>
              </a:rPr>
              <a:t>Source Code &amp; Documentation
github.com/&lt;your-username&gt;/MutualFundAnalytics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291840"/>
            <a:ext cx="201168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310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DEFB"/>
                </a:solidFill>
                <a:latin typeface="Calibri"/>
              </a:rPr>
              <a:t>10 cleaned CSVs + 6 analytics outputs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291840"/>
            <a:ext cx="201168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310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DEFB"/>
                </a:solidFill>
                <a:latin typeface="Calibri"/>
              </a:rPr>
              <a:t>30 publication-quality PNG charts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3291840"/>
            <a:ext cx="201168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310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Recommender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DEFB"/>
                </a:solidFill>
                <a:latin typeface="Calibri"/>
              </a:rPr>
              <a:t>python recommender.py --risk Moderate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291840"/>
            <a:ext cx="201168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331012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00507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DEFB"/>
                </a:solidFill>
                <a:latin typeface="Calibri"/>
              </a:rPr>
              <a:t>4-page Power BI + 25 DAX measures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